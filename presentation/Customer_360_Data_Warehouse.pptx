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tso Monyebodi" userId="1c046c1cd3268217" providerId="LiveId" clId="{56826F75-9F08-43EF-933B-DDE81E560633}"/>
    <pc:docChg chg="custSel modSld">
      <pc:chgData name="Khutso Monyebodi" userId="1c046c1cd3268217" providerId="LiveId" clId="{56826F75-9F08-43EF-933B-DDE81E560633}" dt="2026-10-05T18:34:04.847" v="35" actId="313"/>
      <pc:docMkLst>
        <pc:docMk/>
      </pc:docMkLst>
      <pc:sldChg chg="modSp mod chgLayout">
        <pc:chgData name="Khutso Monyebodi" userId="1c046c1cd3268217" providerId="LiveId" clId="{56826F75-9F08-43EF-933B-DDE81E560633}" dt="2026-10-05T18:34:04.847" v="35" actId="313"/>
        <pc:sldMkLst>
          <pc:docMk/>
          <pc:sldMk cId="0" sldId="257"/>
        </pc:sldMkLst>
        <pc:spChg chg="mod">
          <ac:chgData name="Khutso Monyebodi" userId="1c046c1cd3268217" providerId="LiveId" clId="{56826F75-9F08-43EF-933B-DDE81E560633}" dt="2026-10-05T18:03:07.154" v="6" actId="13926"/>
          <ac:spMkLst>
            <pc:docMk/>
            <pc:sldMk cId="0" sldId="257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3:12.107" v="7" actId="13926"/>
          <ac:spMkLst>
            <pc:docMk/>
            <pc:sldMk cId="0" sldId="257"/>
            <ac:spMk id="3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34:04.847" v="35" actId="313"/>
          <ac:spMkLst>
            <pc:docMk/>
            <pc:sldMk cId="0" sldId="257"/>
            <ac:spMk id="4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33:45.756" v="32" actId="14100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3:35.582" v="8" actId="13926"/>
        <pc:sldMkLst>
          <pc:docMk/>
          <pc:sldMk cId="0" sldId="258"/>
        </pc:sldMkLst>
        <pc:spChg chg="mod">
          <ac:chgData name="Khutso Monyebodi" userId="1c046c1cd3268217" providerId="LiveId" clId="{56826F75-9F08-43EF-933B-DDE81E560633}" dt="2026-10-05T18:03:35.582" v="8" actId="1392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4:01.766" v="10" actId="13926"/>
        <pc:sldMkLst>
          <pc:docMk/>
          <pc:sldMk cId="0" sldId="259"/>
        </pc:sldMkLst>
        <pc:spChg chg="mod">
          <ac:chgData name="Khutso Monyebodi" userId="1c046c1cd3268217" providerId="LiveId" clId="{56826F75-9F08-43EF-933B-DDE81E560633}" dt="2026-10-05T18:03:55.519" v="9" actId="1392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4:01.766" v="10" actId="1392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7:04.392" v="20" actId="1076"/>
        <pc:sldMkLst>
          <pc:docMk/>
          <pc:sldMk cId="0" sldId="261"/>
        </pc:sldMkLst>
        <pc:spChg chg="mod">
          <ac:chgData name="Khutso Monyebodi" userId="1c046c1cd3268217" providerId="LiveId" clId="{56826F75-9F08-43EF-933B-DDE81E560633}" dt="2026-10-05T18:05:17.892" v="15" actId="1392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5:20.166" v="16" actId="13926"/>
          <ac:spMkLst>
            <pc:docMk/>
            <pc:sldMk cId="0" sldId="261"/>
            <ac:spMk id="3" creationId="{00000000-0000-0000-0000-000000000000}"/>
          </ac:spMkLst>
        </pc:spChg>
        <pc:picChg chg="mod">
          <ac:chgData name="Khutso Monyebodi" userId="1c046c1cd3268217" providerId="LiveId" clId="{56826F75-9F08-43EF-933B-DDE81E560633}" dt="2026-10-05T18:07:04.392" v="20" actId="1076"/>
          <ac:picMkLst>
            <pc:docMk/>
            <pc:sldMk cId="0" sldId="261"/>
            <ac:picMk id="5" creationId="{00000000-0000-0000-0000-000000000000}"/>
          </ac:picMkLst>
        </pc:picChg>
      </pc:sldChg>
      <pc:sldChg chg="modSp mod">
        <pc:chgData name="Khutso Monyebodi" userId="1c046c1cd3268217" providerId="LiveId" clId="{56826F75-9F08-43EF-933B-DDE81E560633}" dt="2026-10-05T18:04:53.796" v="14" actId="13926"/>
        <pc:sldMkLst>
          <pc:docMk/>
          <pc:sldMk cId="0" sldId="263"/>
        </pc:sldMkLst>
        <pc:spChg chg="mod">
          <ac:chgData name="Khutso Monyebodi" userId="1c046c1cd3268217" providerId="LiveId" clId="{56826F75-9F08-43EF-933B-DDE81E560633}" dt="2026-10-05T18:04:53.796" v="14" actId="1392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4:44.335" v="13" actId="1392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7:49.600" v="26" actId="20577"/>
        <pc:sldMkLst>
          <pc:docMk/>
          <pc:sldMk cId="0" sldId="264"/>
        </pc:sldMkLst>
        <pc:spChg chg="mod">
          <ac:chgData name="Khutso Monyebodi" userId="1c046c1cd3268217" providerId="LiveId" clId="{56826F75-9F08-43EF-933B-DDE81E560633}" dt="2026-10-05T18:07:49.600" v="26" actId="20577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58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1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7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7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1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5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0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9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8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2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70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7960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56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5504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5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4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74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Customer 360 Data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SQL Server + SSIS ETL Pipeline | Data Engineering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760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 modern analytics solution built to</a:t>
            </a:r>
          </a:p>
          <a:p>
            <a:pPr algn="l"/>
            <a:r>
              <a:rPr sz="2200" b="0">
                <a:solidFill>
                  <a:srgbClr val="FFFFFF"/>
                </a:solidFill>
              </a:rPr>
              <a:t>turn raw customer activity into</a:t>
            </a:r>
          </a:p>
          <a:p>
            <a:pPr algn="l"/>
            <a:r>
              <a:rPr sz="2200" b="0">
                <a:solidFill>
                  <a:srgbClr val="FFFFFF"/>
                </a:solidFill>
              </a:rPr>
              <a:t>trusted business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5120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7E9F7"/>
                </a:solidFill>
              </a:rPr>
              <a:t>Source: raw CSV activity data</a:t>
            </a:r>
          </a:p>
          <a:p>
            <a:r>
              <a:rPr sz="1600">
                <a:solidFill>
                  <a:srgbClr val="D7E9F7"/>
                </a:solidFill>
              </a:rPr>
              <a:t>Stage: cleansing, profiling, validation</a:t>
            </a:r>
          </a:p>
          <a:p>
            <a:r>
              <a:rPr sz="1600">
                <a:solidFill>
                  <a:srgbClr val="D7E9F7"/>
                </a:solidFill>
              </a:rPr>
              <a:t>Model: star schema with dimensions and facts</a:t>
            </a:r>
          </a:p>
          <a:p>
            <a:r>
              <a:rPr sz="1600">
                <a:solidFill>
                  <a:srgbClr val="D7E9F7"/>
                </a:solidFill>
              </a:rPr>
              <a:t>Delivery: SSIS orchestration and SQL reporting</a:t>
            </a:r>
          </a:p>
        </p:txBody>
      </p:sp>
      <p:pic>
        <p:nvPicPr>
          <p:cNvPr id="7" name="Picture 6" descr="0.1.raw_data_and_creating_sche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297680" cy="32004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580" y="411480"/>
            <a:ext cx="256416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1054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dirty="0">
                <a:solidFill>
                  <a:srgbClr val="C8DCF5"/>
                </a:solidFill>
                <a:highlight>
                  <a:srgbClr val="000080"/>
                </a:highlight>
              </a:rPr>
              <a:t>From messy operational data to customer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266226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17253A"/>
                </a:solidFill>
              </a:rPr>
              <a:t>This project builds a Customer 360 analytical warehouse for understanding customer</a:t>
            </a:r>
            <a:endParaRPr lang="en-ZA" sz="2000" dirty="0">
              <a:solidFill>
                <a:srgbClr val="17253A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17253A"/>
                </a:solidFill>
              </a:rPr>
              <a:t> behavior, transactions, </a:t>
            </a:r>
            <a:endParaRPr lang="en-ZA" sz="2000" dirty="0">
              <a:solidFill>
                <a:srgbClr val="17253A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17253A"/>
                </a:solidFill>
              </a:rPr>
              <a:t>and engagement.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The solution consolidates customer, location, account, and interaction data into a reporting-ready </a:t>
            </a:r>
            <a:endParaRPr lang="en-ZA" sz="1800" dirty="0">
              <a:solidFill>
                <a:srgbClr val="17253A"/>
              </a:solidFill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structure.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Business questions include: customer distribution by province, transactional summaries, </a:t>
            </a:r>
            <a:endParaRPr lang="en-ZA" sz="1800" dirty="0">
              <a:solidFill>
                <a:srgbClr val="17253A"/>
              </a:solidFill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product segmentation,</a:t>
            </a:r>
            <a:endParaRPr lang="en-ZA" sz="1800" dirty="0">
              <a:solidFill>
                <a:srgbClr val="17253A"/>
              </a:solidFill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 and engagement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267" y="4137124"/>
            <a:ext cx="3672933" cy="2501802"/>
          </a:xfrm>
          <a:prstGeom prst="roundRect">
            <a:avLst/>
          </a:prstGeom>
          <a:solidFill>
            <a:srgbClr val="125C8E"/>
          </a:solidFill>
          <a:ln>
            <a:solidFill>
              <a:srgbClr val="12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dirty="0">
                <a:solidFill>
                  <a:srgbClr val="FFFFFF"/>
                </a:solidFill>
              </a:rPr>
              <a:t>Why it matters</a:t>
            </a:r>
          </a:p>
          <a:p>
            <a:pPr algn="l"/>
            <a:endParaRPr sz="1600" dirty="0">
              <a:solidFill>
                <a:srgbClr val="FFFFFF"/>
              </a:solidFill>
            </a:endParaRPr>
          </a:p>
          <a:p>
            <a:pPr algn="l"/>
            <a:r>
              <a:rPr sz="1600" dirty="0">
                <a:solidFill>
                  <a:srgbClr val="FFFFFF"/>
                </a:solidFill>
              </a:rPr>
              <a:t>Customer 360 helps teams answer: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Who are our customers?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Where do they operate?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How are they engaging?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What drives revenue and activity?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</a:rPr>
              <a:t>Architecture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96167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dirty="0">
                <a:solidFill>
                  <a:srgbClr val="C8DCF5"/>
                </a:solidFill>
                <a:highlight>
                  <a:srgbClr val="000080"/>
                </a:highlight>
              </a:rPr>
              <a:t>Raw data ? staging ? dimensional warehouse ? business reporting</a:t>
            </a:r>
          </a:p>
        </p:txBody>
      </p:sp>
      <p:pic>
        <p:nvPicPr>
          <p:cNvPr id="4" name="Picture 3" descr="stg_to_dwh_sql_p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89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9375F"/>
                </a:solidFill>
              </a:rPr>
              <a:t>1. Load raw CSV files  2. Stage and cleanse  3. Model dimensions  4. Populate fact table  5. Query for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59425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Star Schema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4098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  <a:highlight>
                  <a:srgbClr val="000080"/>
                </a:highlight>
              </a:rPr>
              <a:t>Dimension tables around a central fact table</a:t>
            </a:r>
          </a:p>
        </p:txBody>
      </p:sp>
      <p:pic>
        <p:nvPicPr>
          <p:cNvPr id="4" name="Picture 3" descr="customer_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31520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737360"/>
            <a:ext cx="3474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6324B"/>
                </a:solidFill>
              </a:rPr>
              <a:t>Client</a:t>
            </a:r>
          </a:p>
          <a:p>
            <a:r>
              <a:rPr sz="1800">
                <a:solidFill>
                  <a:srgbClr val="16324B"/>
                </a:solidFill>
              </a:rPr>
              <a:t>Location</a:t>
            </a:r>
          </a:p>
          <a:p>
            <a:r>
              <a:rPr sz="1800">
                <a:solidFill>
                  <a:srgbClr val="16324B"/>
                </a:solidFill>
              </a:rPr>
              <a:t>Account</a:t>
            </a:r>
          </a:p>
          <a:p>
            <a:r>
              <a:rPr sz="1800">
                <a:solidFill>
                  <a:srgbClr val="16324B"/>
                </a:solidFill>
              </a:rPr>
              <a:t>Transaction Type</a:t>
            </a:r>
          </a:p>
          <a:p>
            <a:r>
              <a:rPr sz="1800">
                <a:solidFill>
                  <a:srgbClr val="16324B"/>
                </a:solidFill>
              </a:rPr>
              <a:t>Event Type</a:t>
            </a:r>
          </a:p>
          <a:p>
            <a:r>
              <a:rPr sz="1800">
                <a:solidFill>
                  <a:srgbClr val="16324B"/>
                </a:solidFill>
              </a:rPr>
              <a:t>Interaction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SSIS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Automated movement from source to warehouse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Extract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Read raw CSV activity files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37560" y="2560320"/>
            <a:ext cx="457200" cy="320040"/>
          </a:xfrm>
          <a:prstGeom prst="rightArrow">
            <a:avLst/>
          </a:prstGeom>
          <a:solidFill>
            <a:srgbClr val="75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Stage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Cleanse, validate, and standardize records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60" y="2560320"/>
            <a:ext cx="457200" cy="320040"/>
          </a:xfrm>
          <a:prstGeom prst="rightArrow">
            <a:avLst/>
          </a:prstGeom>
          <a:solidFill>
            <a:srgbClr val="75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Transform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Normalize to dimension and fact structures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23960" y="2560320"/>
            <a:ext cx="457200" cy="320040"/>
          </a:xfrm>
          <a:prstGeom prst="rightArrow">
            <a:avLst/>
          </a:prstGeom>
          <a:solidFill>
            <a:srgbClr val="75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Load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Populate warehouse tables and reporting layer</a:t>
            </a:r>
          </a:p>
        </p:txBody>
      </p:sp>
      <p:pic>
        <p:nvPicPr>
          <p:cNvPr id="11" name="Picture 10" descr="1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572000"/>
            <a:ext cx="73152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75699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Data Quality and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2080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  <a:highlight>
                  <a:srgbClr val="000080"/>
                </a:highlight>
              </a:rPr>
              <a:t>Ensuring source data is credible before warehouse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C2A40"/>
                </a:solidFill>
              </a:rPr>
              <a:t>Validated raw CSV structure and critical business fields</a:t>
            </a:r>
          </a:p>
          <a:p>
            <a:r>
              <a:rPr sz="2000">
                <a:solidFill>
                  <a:srgbClr val="1C2A40"/>
                </a:solidFill>
              </a:rPr>
              <a:t>Removed whitespace and standardized values for consistency</a:t>
            </a:r>
          </a:p>
          <a:p>
            <a:r>
              <a:rPr sz="2000">
                <a:solidFill>
                  <a:srgbClr val="1C2A40"/>
                </a:solidFill>
              </a:rPr>
              <a:t>Handled nulls and missing values to reduce reporting risk</a:t>
            </a:r>
          </a:p>
          <a:p>
            <a:r>
              <a:rPr sz="2000">
                <a:solidFill>
                  <a:srgbClr val="1C2A40"/>
                </a:solidFill>
              </a:rPr>
              <a:t>Detected duplicates and cleaned repeated customer records</a:t>
            </a:r>
          </a:p>
          <a:p>
            <a:r>
              <a:rPr sz="2000">
                <a:solidFill>
                  <a:srgbClr val="1C2A40"/>
                </a:solidFill>
              </a:rPr>
              <a:t>Prepared a trusted staging layer before final modeling</a:t>
            </a:r>
          </a:p>
          <a:p>
            <a:r>
              <a:rPr sz="2000">
                <a:solidFill>
                  <a:srgbClr val="1C2A40"/>
                </a:solidFill>
              </a:rPr>
              <a:t>Supported stronger analytical accuracy and repeatable ETL execution</a:t>
            </a:r>
          </a:p>
        </p:txBody>
      </p:sp>
      <p:pic>
        <p:nvPicPr>
          <p:cNvPr id="5" name="Picture 4" descr="0.1.raw_data_and_creating_sche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420" y="338328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Business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The warehouse supports customer and transaction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Customer distribution by province and geography</a:t>
            </a:r>
          </a:p>
          <a:p>
            <a:r>
              <a:rPr sz="2200">
                <a:solidFill>
                  <a:srgbClr val="FFFFFF"/>
                </a:solidFill>
              </a:rPr>
              <a:t>Transactional summaries by account type or customer segment</a:t>
            </a:r>
          </a:p>
          <a:p>
            <a:r>
              <a:rPr sz="2200">
                <a:solidFill>
                  <a:srgbClr val="FFFFFF"/>
                </a:solidFill>
              </a:rPr>
              <a:t>Product and customer segmentation trends</a:t>
            </a:r>
          </a:p>
          <a:p>
            <a:r>
              <a:rPr sz="2200">
                <a:solidFill>
                  <a:srgbClr val="FFFFFF"/>
                </a:solidFill>
              </a:rPr>
              <a:t>Engagement and interaction pattern analysis</a:t>
            </a:r>
          </a:p>
          <a:p>
            <a:r>
              <a:rPr sz="2200">
                <a:solidFill>
                  <a:srgbClr val="FFFFFF"/>
                </a:solidFill>
              </a:rPr>
              <a:t>Operational reporting for customer activity and behavior</a:t>
            </a:r>
          </a:p>
          <a:p>
            <a:r>
              <a:rPr sz="2200">
                <a:solidFill>
                  <a:srgbClr val="FFFFFF"/>
                </a:solidFill>
              </a:rPr>
              <a:t>Decision support for portfolio and revenue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51516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Tech Stack and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9804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  <a:highlight>
                  <a:srgbClr val="000080"/>
                </a:highlight>
              </a:rPr>
              <a:t>End-to-end data engineering with SQL-first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82737"/>
                </a:solidFill>
              </a:rPr>
              <a:t>SQL Server / T-SQL</a:t>
            </a:r>
          </a:p>
          <a:p>
            <a:r>
              <a:rPr sz="2000">
                <a:solidFill>
                  <a:srgbClr val="182737"/>
                </a:solidFill>
              </a:rPr>
              <a:t>SSIS for ETL orchestration</a:t>
            </a:r>
          </a:p>
          <a:p>
            <a:r>
              <a:rPr sz="2000">
                <a:solidFill>
                  <a:srgbClr val="182737"/>
                </a:solidFill>
              </a:rPr>
              <a:t>CSV source data ingestion</a:t>
            </a:r>
          </a:p>
          <a:p>
            <a:r>
              <a:rPr sz="2000">
                <a:solidFill>
                  <a:srgbClr val="182737"/>
                </a:solidFill>
              </a:rPr>
              <a:t>Star schema dimensional modeling</a:t>
            </a:r>
          </a:p>
          <a:p>
            <a:r>
              <a:rPr sz="2000">
                <a:solidFill>
                  <a:srgbClr val="182737"/>
                </a:solidFill>
              </a:rPr>
              <a:t>SQL-based business reporting</a:t>
            </a:r>
          </a:p>
          <a:p>
            <a:r>
              <a:rPr sz="2000">
                <a:solidFill>
                  <a:srgbClr val="182737"/>
                </a:solidFill>
              </a:rPr>
              <a:t>Data quality checks and staging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75078"/>
                </a:solidFill>
              </a:rPr>
              <a:t>1.raw_csv_data</a:t>
            </a:r>
          </a:p>
          <a:p>
            <a:r>
              <a:rPr sz="1600">
                <a:solidFill>
                  <a:srgbClr val="175078"/>
                </a:solidFill>
              </a:rPr>
              <a:t>2.project_scope</a:t>
            </a:r>
          </a:p>
          <a:p>
            <a:r>
              <a:rPr sz="1600">
                <a:solidFill>
                  <a:srgbClr val="175078"/>
                </a:solidFill>
              </a:rPr>
              <a:t>3.data_modeling</a:t>
            </a:r>
          </a:p>
          <a:p>
            <a:r>
              <a:rPr sz="1600">
                <a:solidFill>
                  <a:srgbClr val="175078"/>
                </a:solidFill>
              </a:rPr>
              <a:t>4.ssis_pipeline_customer360</a:t>
            </a:r>
          </a:p>
          <a:p>
            <a:r>
              <a:rPr sz="1600">
                <a:solidFill>
                  <a:srgbClr val="175078"/>
                </a:solidFill>
              </a:rPr>
              <a:t>5.sql_scrips</a:t>
            </a:r>
          </a:p>
          <a:p>
            <a:r>
              <a:rPr sz="1600">
                <a:solidFill>
                  <a:srgbClr val="175078"/>
                </a:solidFill>
              </a:rPr>
              <a:t>6.data_quality_note_description</a:t>
            </a:r>
          </a:p>
          <a:p>
            <a:r>
              <a:rPr sz="1600">
                <a:solidFill>
                  <a:srgbClr val="175078"/>
                </a:solidFill>
              </a:rPr>
              <a:t>7.business_questions</a:t>
            </a:r>
          </a:p>
          <a:p>
            <a:r>
              <a:rPr sz="1600">
                <a:solidFill>
                  <a:srgbClr val="175078"/>
                </a:solidFill>
              </a:rPr>
              <a:t>8.screenshots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A practical data engineering solution for customer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969396" cy="3339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This project demonstrates how raw operational data can be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 transformed into a usable,</a:t>
            </a:r>
            <a:r>
              <a:rPr lang="en-ZA" sz="230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analytical warehouse.</a:t>
            </a: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By combining data profiling, dimensional modeling, ETL automation, 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and SQL reporting, it provides a realistic and scalable data 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engineering workflow.</a:t>
            </a: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The result is a trusted foundation for customer intelligence 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and business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</TotalTime>
  <Words>507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Khutso Monyebodi</cp:lastModifiedBy>
  <cp:revision>1</cp:revision>
  <dcterms:created xsi:type="dcterms:W3CDTF">2013-01-27T09:14:16Z</dcterms:created>
  <dcterms:modified xsi:type="dcterms:W3CDTF">2026-10-05T18:34:24Z</dcterms:modified>
  <cp:category/>
</cp:coreProperties>
</file>